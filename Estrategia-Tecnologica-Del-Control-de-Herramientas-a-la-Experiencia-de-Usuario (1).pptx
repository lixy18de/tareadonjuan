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9"/>
  </p:notesMasterIdLst>
  <p:sldIdLst>
    <p:sldId id="256" r:id="rId2"/>
    <p:sldId id="257" r:id="rId3"/>
    <p:sldId id="259" r:id="rId4"/>
    <p:sldId id="260" r:id="rId5"/>
    <p:sldId id="261" r:id="rId6"/>
    <p:sldId id="262" r:id="rId7"/>
    <p:sldId id="264" r:id="rId8"/>
  </p:sldIdLst>
  <p:sldSz cx="9144000" cy="5143500" type="screen16x9"/>
  <p:notesSz cx="5143500" cy="9144000"/>
  <p:embeddedFontLst>
    <p:embeddedFont>
      <p:font typeface="Calibri" panose="020F0502020204030204" pitchFamily="34" charset="0"/>
      <p:regular r:id="rId10"/>
      <p:bold r:id="rId11"/>
      <p:italic r:id="rId12"/>
      <p:boldItalic r:id="rId13"/>
    </p:embeddedFont>
    <p:embeddedFont>
      <p:font typeface="PT Sans Bold" panose="020B0604020202020204" charset="0"/>
      <p:regular r:id="rId14"/>
    </p:embeddedFont>
    <p:embeddedFont>
      <p:font typeface="Nunito SemiBold" panose="020B0604020202020204" charset="0"/>
      <p:regular r:id="rId15"/>
    </p:embeddedFont>
    <p:embeddedFont>
      <p:font typeface="PT Sans" panose="020B0604020202020204" charset="0"/>
      <p:regular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868" autoAdjust="0"/>
    <p:restoredTop sz="94799" autoAdjust="0"/>
  </p:normalViewPr>
  <p:slideViewPr>
    <p:cSldViewPr snapToGrid="0" snapToObjects="1">
      <p:cViewPr varScale="1">
        <p:scale>
          <a:sx n="95" d="100"/>
          <a:sy n="95" d="100"/>
        </p:scale>
        <p:origin x="78" y="2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3143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4.svg"/><Relationship Id="rId5" Type="http://schemas.openxmlformats.org/officeDocument/2006/relationships/image" Target="../media/image7.png"/><Relationship Id="rId4" Type="http://schemas.openxmlformats.org/officeDocument/2006/relationships/image" Target="../media/image-5-2.sv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7-6.svg"/><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7-4.svg"/><Relationship Id="rId5" Type="http://schemas.openxmlformats.org/officeDocument/2006/relationships/image" Target="../media/image10.png"/><Relationship Id="rId10" Type="http://schemas.openxmlformats.org/officeDocument/2006/relationships/image" Target="../media/image-7-8.svg"/><Relationship Id="rId4" Type="http://schemas.openxmlformats.org/officeDocument/2006/relationships/image" Target="../media/image-7-2.sv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520526" y="846457"/>
            <a:ext cx="4667845" cy="1154832"/>
          </a:xfrm>
          <a:prstGeom prst="rect">
            <a:avLst/>
          </a:prstGeom>
          <a:noFill/>
          <a:ln/>
        </p:spPr>
        <p:txBody>
          <a:bodyPr wrap="square" lIns="0" tIns="0" rIns="0" bIns="0" rtlCol="0" anchor="t">
            <a:normAutofit/>
          </a:bodyPr>
          <a:lstStyle/>
          <a:p>
            <a:pPr marL="0" indent="0" algn="l">
              <a:lnSpc>
                <a:spcPct val="104000"/>
              </a:lnSpc>
              <a:buNone/>
            </a:pPr>
            <a:r>
              <a:rPr lang="en-US" sz="2400" dirty="0">
                <a:solidFill>
                  <a:srgbClr val="FFFFFF"/>
                </a:solidFill>
                <a:latin typeface="Nunito SemiBold" pitchFamily="34" charset="0"/>
                <a:ea typeface="Nunito SemiBold" pitchFamily="34" charset="-122"/>
                <a:cs typeface="Nunito SemiBold" pitchFamily="34" charset="-120"/>
              </a:rPr>
              <a:t>Estrategia Tecnológica: Del Control de Herramientas a la Experiencia de Usuario</a:t>
            </a:r>
            <a:endParaRPr lang="en-US" sz="2400" dirty="0"/>
          </a:p>
        </p:txBody>
      </p:sp>
      <p:sp>
        <p:nvSpPr>
          <p:cNvPr id="4" name="Text 1"/>
          <p:cNvSpPr/>
          <p:nvPr/>
        </p:nvSpPr>
        <p:spPr>
          <a:xfrm>
            <a:off x="307975" y="2633087"/>
            <a:ext cx="4667845" cy="2239528"/>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FFFF"/>
                </a:solidFill>
                <a:latin typeface="Arial" panose="020B0604020202020204" pitchFamily="34" charset="0"/>
                <a:ea typeface="PT Sans" pitchFamily="34" charset="-122"/>
                <a:cs typeface="Arial" panose="020B0604020202020204" pitchFamily="34" charset="0"/>
              </a:rPr>
              <a:t>En un entorno digital en constante evolución, las organizaciones enfrentan el desafío de seleccionar, gestionar y documentar sus herramientas tecnológicas de manera eficiente. </a:t>
            </a:r>
            <a:endParaRPr lang="en-US" sz="1200" dirty="0">
              <a:latin typeface="Arial" panose="020B0604020202020204" pitchFamily="34" charset="0"/>
              <a:cs typeface="Arial" panose="020B0604020202020204" pitchFamily="34" charset="0"/>
            </a:endParaRPr>
          </a:p>
        </p:txBody>
      </p:sp>
      <p:sp>
        <p:nvSpPr>
          <p:cNvPr id="14" name="AutoShape 2" descr="Startup Personas De Negocios Trabajando En La Computadora Portátil Imagen y  Fotografía Gratis 82814184."/>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SV"/>
          </a:p>
        </p:txBody>
      </p:sp>
      <p:pic>
        <p:nvPicPr>
          <p:cNvPr id="2" name="Imagen 1"/>
          <p:cNvPicPr>
            <a:picLocks noChangeAspect="1"/>
          </p:cNvPicPr>
          <p:nvPr/>
        </p:nvPicPr>
        <p:blipFill>
          <a:blip r:embed="rId3"/>
          <a:stretch>
            <a:fillRect/>
          </a:stretch>
        </p:blipFill>
        <p:spPr>
          <a:xfrm>
            <a:off x="5824944" y="262551"/>
            <a:ext cx="3147039" cy="4490518"/>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57932" y="356353"/>
            <a:ext cx="8096845" cy="324892"/>
          </a:xfrm>
          <a:prstGeom prst="rect">
            <a:avLst/>
          </a:prstGeom>
          <a:noFill/>
          <a:ln/>
        </p:spPr>
        <p:txBody>
          <a:bodyPr wrap="none" lIns="0" tIns="0" rIns="0" bIns="0" rtlCol="0" anchor="t"/>
          <a:lstStyle/>
          <a:p>
            <a:pPr marL="0" indent="0" algn="l">
              <a:lnSpc>
                <a:spcPct val="104000"/>
              </a:lnSpc>
              <a:buNone/>
            </a:pPr>
            <a:r>
              <a:rPr lang="en-US" sz="2000" dirty="0">
                <a:solidFill>
                  <a:srgbClr val="FFFFFF"/>
                </a:solidFill>
                <a:latin typeface="Nunito SemiBold" pitchFamily="34" charset="0"/>
                <a:ea typeface="Nunito SemiBold" pitchFamily="34" charset="-122"/>
                <a:cs typeface="Nunito SemiBold" pitchFamily="34" charset="-120"/>
              </a:rPr>
              <a:t>Benchmarking: El Arte de Elegir</a:t>
            </a:r>
            <a:endParaRPr lang="en-US" sz="2000" dirty="0"/>
          </a:p>
        </p:txBody>
      </p:sp>
      <p:sp>
        <p:nvSpPr>
          <p:cNvPr id="3" name="Text 1"/>
          <p:cNvSpPr/>
          <p:nvPr/>
        </p:nvSpPr>
        <p:spPr>
          <a:xfrm>
            <a:off x="357932" y="829230"/>
            <a:ext cx="8096845" cy="907167"/>
          </a:xfrm>
          <a:prstGeom prst="rect">
            <a:avLst/>
          </a:prstGeom>
          <a:noFill/>
          <a:ln/>
        </p:spPr>
        <p:txBody>
          <a:bodyPr wrap="square" lIns="0" tIns="0" rIns="0" bIns="0" rtlCol="0" anchor="t">
            <a:noAutofit/>
          </a:bodyPr>
          <a:lstStyle/>
          <a:p>
            <a:pPr marL="0" indent="0" algn="l">
              <a:lnSpc>
                <a:spcPct val="123000"/>
              </a:lnSpc>
              <a:buNone/>
            </a:pPr>
            <a:r>
              <a:rPr lang="en-US" sz="1100" dirty="0">
                <a:solidFill>
                  <a:srgbClr val="FFFFFF"/>
                </a:solidFill>
                <a:latin typeface="Arial" panose="020B0604020202020204" pitchFamily="34" charset="0"/>
                <a:ea typeface="PT Sans" pitchFamily="34" charset="-122"/>
                <a:cs typeface="Arial" panose="020B0604020202020204" pitchFamily="34" charset="0"/>
              </a:rPr>
              <a:t>El benchmarking tecnológico no es simplemente comparar precios o características. Es un proceso riguroso que permite a las organizaciones tomar decisiones informadas basadas en evidencia objetiva, evitando sesgos y asegurando que cada herramienta seleccionada contribuya directamente a los objetivos del negocio. </a:t>
            </a:r>
            <a:endParaRPr lang="en-US" sz="1100" dirty="0">
              <a:latin typeface="Arial" panose="020B0604020202020204" pitchFamily="34" charset="0"/>
              <a:cs typeface="Arial" panose="020B0604020202020204" pitchFamily="34" charset="0"/>
            </a:endParaRPr>
          </a:p>
        </p:txBody>
      </p:sp>
      <p:sp>
        <p:nvSpPr>
          <p:cNvPr id="8" name="Text 6"/>
          <p:cNvSpPr/>
          <p:nvPr/>
        </p:nvSpPr>
        <p:spPr>
          <a:xfrm>
            <a:off x="755086" y="1862762"/>
            <a:ext cx="3913733" cy="162371"/>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Arial" panose="020B0604020202020204" pitchFamily="34" charset="0"/>
                <a:ea typeface="Nunito SemiBold" pitchFamily="34" charset="-122"/>
                <a:cs typeface="Arial" panose="020B0604020202020204" pitchFamily="34" charset="0"/>
              </a:rPr>
              <a:t>Independencia en la Evaluación</a:t>
            </a:r>
            <a:endParaRPr lang="en-US" sz="1200" dirty="0">
              <a:latin typeface="Arial" panose="020B0604020202020204" pitchFamily="34" charset="0"/>
              <a:cs typeface="Arial" panose="020B0604020202020204" pitchFamily="34" charset="0"/>
            </a:endParaRPr>
          </a:p>
        </p:txBody>
      </p:sp>
      <p:sp>
        <p:nvSpPr>
          <p:cNvPr id="9" name="Text 7"/>
          <p:cNvSpPr/>
          <p:nvPr/>
        </p:nvSpPr>
        <p:spPr>
          <a:xfrm>
            <a:off x="872779" y="2184517"/>
            <a:ext cx="3913733" cy="601993"/>
          </a:xfrm>
          <a:prstGeom prst="rect">
            <a:avLst/>
          </a:prstGeom>
          <a:noFill/>
          <a:ln/>
        </p:spPr>
        <p:txBody>
          <a:bodyPr wrap="square" lIns="0" tIns="0" rIns="0" bIns="0" rtlCol="0" anchor="t">
            <a:noAutofit/>
          </a:bodyPr>
          <a:lstStyle/>
          <a:p>
            <a:pPr marL="0" indent="0" algn="l">
              <a:lnSpc>
                <a:spcPct val="123000"/>
              </a:lnSpc>
              <a:buNone/>
            </a:pPr>
            <a:r>
              <a:rPr lang="en-US" sz="1200" dirty="0">
                <a:solidFill>
                  <a:srgbClr val="FFFFFF"/>
                </a:solidFill>
                <a:latin typeface="Arial" panose="020B0604020202020204" pitchFamily="34" charset="0"/>
                <a:ea typeface="PT Sans" pitchFamily="34" charset="-122"/>
                <a:cs typeface="Arial" panose="020B0604020202020204" pitchFamily="34" charset="0"/>
              </a:rPr>
              <a:t>La objetividad es el activo más valioso en un proceso de benchmarking. Para garantizar evaluaciones sin sesgos, se recomienda:</a:t>
            </a:r>
            <a:endParaRPr lang="en-US" sz="1200" dirty="0">
              <a:latin typeface="Arial" panose="020B0604020202020204" pitchFamily="34" charset="0"/>
              <a:cs typeface="Arial" panose="020B0604020202020204" pitchFamily="34" charset="0"/>
            </a:endParaRPr>
          </a:p>
        </p:txBody>
      </p:sp>
      <p:sp>
        <p:nvSpPr>
          <p:cNvPr id="10" name="Text 8"/>
          <p:cNvSpPr/>
          <p:nvPr/>
        </p:nvSpPr>
        <p:spPr>
          <a:xfrm>
            <a:off x="872780" y="3246138"/>
            <a:ext cx="3913733" cy="2166147"/>
          </a:xfrm>
          <a:prstGeom prst="rect">
            <a:avLst/>
          </a:prstGeom>
          <a:noFill/>
          <a:ln/>
        </p:spPr>
        <p:txBody>
          <a:bodyPr wrap="square" lIns="0" tIns="0" rIns="0" bIns="0" rtlCol="0" anchor="t">
            <a:noAutofit/>
          </a:bodyPr>
          <a:lstStyle/>
          <a:p>
            <a:pPr marL="172720" indent="-172720" algn="l">
              <a:lnSpc>
                <a:spcPct val="123000"/>
              </a:lnSpc>
              <a:buSzPct val="100000"/>
              <a:buChar char="•"/>
            </a:pPr>
            <a:r>
              <a:rPr lang="en-US" sz="1200" dirty="0">
                <a:solidFill>
                  <a:srgbClr val="FFFFFF"/>
                </a:solidFill>
                <a:latin typeface="Arial" panose="020B0604020202020204" pitchFamily="34" charset="0"/>
                <a:ea typeface="PT Sans" pitchFamily="34" charset="-122"/>
                <a:cs typeface="Arial" panose="020B0604020202020204" pitchFamily="34" charset="0"/>
              </a:rPr>
              <a:t>Consultar fuentes primarias: pruebas propias, pilotos controlados y datos de uso real.</a:t>
            </a:r>
            <a:endParaRPr lang="en-US" sz="1200" dirty="0">
              <a:latin typeface="Arial" panose="020B0604020202020204" pitchFamily="34" charset="0"/>
              <a:cs typeface="Arial" panose="020B0604020202020204" pitchFamily="34" charset="0"/>
            </a:endParaRPr>
          </a:p>
          <a:p>
            <a:pPr marL="172720" indent="-172720" algn="l">
              <a:lnSpc>
                <a:spcPct val="123000"/>
              </a:lnSpc>
              <a:buSzPct val="100000"/>
              <a:buChar char="•"/>
            </a:pPr>
            <a:r>
              <a:rPr lang="en-US" sz="1200" dirty="0">
                <a:solidFill>
                  <a:srgbClr val="FFFFFF"/>
                </a:solidFill>
                <a:latin typeface="Arial" panose="020B0604020202020204" pitchFamily="34" charset="0"/>
                <a:ea typeface="PT Sans" pitchFamily="34" charset="-122"/>
                <a:cs typeface="Arial" panose="020B0604020202020204" pitchFamily="34" charset="0"/>
              </a:rPr>
              <a:t>Analizar fuentes secundarias: reportes de Gartner, Forrester, comunidades de usuarios y reseñas </a:t>
            </a:r>
            <a:r>
              <a:rPr lang="en-US" sz="1200" dirty="0" err="1">
                <a:solidFill>
                  <a:srgbClr val="FFFFFF"/>
                </a:solidFill>
                <a:latin typeface="Arial" panose="020B0604020202020204" pitchFamily="34" charset="0"/>
                <a:ea typeface="PT Sans" pitchFamily="34" charset="-122"/>
                <a:cs typeface="Arial" panose="020B0604020202020204" pitchFamily="34" charset="0"/>
              </a:rPr>
              <a:t>verificadas</a:t>
            </a:r>
            <a:r>
              <a:rPr lang="en-US" sz="1200" dirty="0" smtClean="0">
                <a:solidFill>
                  <a:srgbClr val="FFFFFF"/>
                </a:solidFill>
                <a:latin typeface="Arial" panose="020B0604020202020204" pitchFamily="34" charset="0"/>
                <a:ea typeface="PT Sans" pitchFamily="34" charset="-122"/>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pic>
        <p:nvPicPr>
          <p:cNvPr id="11" name="Imagen 10"/>
          <p:cNvPicPr>
            <a:picLocks noChangeAspect="1"/>
          </p:cNvPicPr>
          <p:nvPr/>
        </p:nvPicPr>
        <p:blipFill>
          <a:blip r:embed="rId3"/>
          <a:stretch>
            <a:fillRect/>
          </a:stretch>
        </p:blipFill>
        <p:spPr>
          <a:xfrm>
            <a:off x="5631255" y="1333170"/>
            <a:ext cx="3512745" cy="381033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23577" y="638708"/>
            <a:ext cx="8096845" cy="192509"/>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Arial" panose="020B0604020202020204" pitchFamily="34" charset="0"/>
                <a:ea typeface="Nunito SemiBold" pitchFamily="34" charset="-122"/>
                <a:cs typeface="Arial" panose="020B0604020202020204" pitchFamily="34" charset="0"/>
              </a:rPr>
              <a:t>Matriz de Diseño de Documentación</a:t>
            </a:r>
            <a:endParaRPr lang="en-US" sz="1200" dirty="0">
              <a:latin typeface="Arial" panose="020B0604020202020204" pitchFamily="34" charset="0"/>
              <a:cs typeface="Arial" panose="020B0604020202020204" pitchFamily="34" charset="0"/>
            </a:endParaRPr>
          </a:p>
        </p:txBody>
      </p:sp>
      <p:sp>
        <p:nvSpPr>
          <p:cNvPr id="3" name="Text 1"/>
          <p:cNvSpPr/>
          <p:nvPr/>
        </p:nvSpPr>
        <p:spPr>
          <a:xfrm>
            <a:off x="378831" y="1078552"/>
            <a:ext cx="8096845" cy="628777"/>
          </a:xfrm>
          <a:prstGeom prst="rect">
            <a:avLst/>
          </a:prstGeom>
          <a:noFill/>
          <a:ln/>
        </p:spPr>
        <p:txBody>
          <a:bodyPr wrap="square" lIns="0" tIns="0" rIns="0" bIns="0" rtlCol="0" anchor="t">
            <a:noAutofit/>
          </a:bodyPr>
          <a:lstStyle/>
          <a:p>
            <a:pPr marL="0" indent="0" algn="l">
              <a:lnSpc>
                <a:spcPct val="100000"/>
              </a:lnSpc>
              <a:buNone/>
            </a:pPr>
            <a:r>
              <a:rPr lang="en-US" sz="1100" dirty="0">
                <a:solidFill>
                  <a:srgbClr val="FFFFFF"/>
                </a:solidFill>
                <a:latin typeface="Arial" panose="020B0604020202020204" pitchFamily="34" charset="0"/>
                <a:ea typeface="PT Sans" pitchFamily="34" charset="-122"/>
                <a:cs typeface="Arial" panose="020B0604020202020204" pitchFamily="34" charset="0"/>
              </a:rPr>
              <a:t>La documentación tecnológica no es un accesorio del desarrollo: es un componente estratégico que garantiza trazabilidad, cumplimiento normativo y continuidad operativa. Una matriz de diseño de documentación bien estructurada permite a las organizaciones estandarizar procesos, evaluar soluciones de manera objetiva y convertir la detección de desviaciones en un proceso auditable basado en evidencia.</a:t>
            </a:r>
            <a:endParaRPr lang="en-US" sz="1100" dirty="0">
              <a:latin typeface="Arial" panose="020B0604020202020204" pitchFamily="34" charset="0"/>
              <a:cs typeface="Arial" panose="020B0604020202020204" pitchFamily="34" charset="0"/>
            </a:endParaRPr>
          </a:p>
        </p:txBody>
      </p:sp>
      <p:sp>
        <p:nvSpPr>
          <p:cNvPr id="4" name="Text 2"/>
          <p:cNvSpPr/>
          <p:nvPr/>
        </p:nvSpPr>
        <p:spPr>
          <a:xfrm>
            <a:off x="280586" y="2761042"/>
            <a:ext cx="3968576" cy="96217"/>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Arial" panose="020B0604020202020204" pitchFamily="34" charset="0"/>
                <a:ea typeface="Nunito SemiBold" pitchFamily="34" charset="-122"/>
                <a:cs typeface="Arial" panose="020B0604020202020204" pitchFamily="34" charset="0"/>
              </a:rPr>
              <a:t>Estandarización con Marcos de Referencia</a:t>
            </a:r>
            <a:endParaRPr lang="en-US" sz="1200" dirty="0">
              <a:latin typeface="Arial" panose="020B0604020202020204" pitchFamily="34" charset="0"/>
              <a:cs typeface="Arial" panose="020B0604020202020204" pitchFamily="34" charset="0"/>
            </a:endParaRPr>
          </a:p>
        </p:txBody>
      </p:sp>
      <p:sp>
        <p:nvSpPr>
          <p:cNvPr id="5" name="Text 3"/>
          <p:cNvSpPr/>
          <p:nvPr/>
        </p:nvSpPr>
        <p:spPr>
          <a:xfrm>
            <a:off x="217211" y="3097694"/>
            <a:ext cx="3968576" cy="157163"/>
          </a:xfrm>
          <a:prstGeom prst="rect">
            <a:avLst/>
          </a:prstGeom>
          <a:noFill/>
          <a:ln/>
        </p:spPr>
        <p:txBody>
          <a:bodyPr wrap="square" lIns="0" tIns="0" rIns="0" bIns="0" rtlCol="0" anchor="t">
            <a:noAutofit/>
          </a:bodyPr>
          <a:lstStyle/>
          <a:p>
            <a:pPr marL="0" indent="0" algn="l">
              <a:lnSpc>
                <a:spcPct val="100000"/>
              </a:lnSpc>
              <a:buNone/>
            </a:pPr>
            <a:r>
              <a:rPr lang="en-US" sz="1050" dirty="0">
                <a:solidFill>
                  <a:srgbClr val="FFFFFF"/>
                </a:solidFill>
                <a:latin typeface="Arial" panose="020B0604020202020204" pitchFamily="34" charset="0"/>
                <a:ea typeface="PT Sans" pitchFamily="34" charset="-122"/>
                <a:cs typeface="Arial" panose="020B0604020202020204" pitchFamily="34" charset="0"/>
              </a:rPr>
              <a:t>El uso de marcos de trabajo reconocidos internacionalmente proporciona un lenguaje común y una estructura probada para documentar procesos tecnológicos. Los más relevantes incluyen:</a:t>
            </a:r>
            <a:endParaRPr lang="en-US" sz="1050" dirty="0">
              <a:latin typeface="Arial" panose="020B0604020202020204" pitchFamily="34" charset="0"/>
              <a:cs typeface="Arial" panose="020B0604020202020204" pitchFamily="34" charset="0"/>
            </a:endParaRPr>
          </a:p>
        </p:txBody>
      </p:sp>
      <p:sp>
        <p:nvSpPr>
          <p:cNvPr id="9" name="Text 7"/>
          <p:cNvSpPr/>
          <p:nvPr/>
        </p:nvSpPr>
        <p:spPr>
          <a:xfrm>
            <a:off x="280586" y="3685263"/>
            <a:ext cx="3968576" cy="157163"/>
          </a:xfrm>
          <a:prstGeom prst="rect">
            <a:avLst/>
          </a:prstGeom>
          <a:noFill/>
          <a:ln/>
        </p:spPr>
        <p:txBody>
          <a:bodyPr wrap="square" lIns="0" tIns="0" rIns="0" bIns="0" rtlCol="0" anchor="t">
            <a:noAutofit/>
          </a:bodyPr>
          <a:lstStyle/>
          <a:p>
            <a:pPr marL="0" indent="0" algn="l">
              <a:lnSpc>
                <a:spcPct val="100000"/>
              </a:lnSpc>
              <a:buNone/>
            </a:pPr>
            <a:endParaRPr lang="en-US" sz="1050" dirty="0">
              <a:latin typeface="Arial" panose="020B0604020202020204" pitchFamily="34" charset="0"/>
              <a:cs typeface="Arial" panose="020B0604020202020204" pitchFamily="34" charset="0"/>
            </a:endParaRPr>
          </a:p>
        </p:txBody>
      </p:sp>
      <p:pic>
        <p:nvPicPr>
          <p:cNvPr id="7" name="Imagen 6"/>
          <p:cNvPicPr>
            <a:picLocks noChangeAspect="1"/>
          </p:cNvPicPr>
          <p:nvPr/>
        </p:nvPicPr>
        <p:blipFill>
          <a:blip r:embed="rId3"/>
          <a:stretch>
            <a:fillRect/>
          </a:stretch>
        </p:blipFill>
        <p:spPr>
          <a:xfrm>
            <a:off x="4878294" y="1954664"/>
            <a:ext cx="4265706" cy="3235864"/>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23504" y="471238"/>
            <a:ext cx="8096845" cy="378991"/>
          </a:xfrm>
          <a:prstGeom prst="rect">
            <a:avLst/>
          </a:prstGeom>
          <a:noFill/>
          <a:ln/>
        </p:spPr>
        <p:txBody>
          <a:bodyPr wrap="none" lIns="0" tIns="0" rIns="0" bIns="0" rtlCol="0" anchor="t"/>
          <a:lstStyle/>
          <a:p>
            <a:pPr marL="0" indent="0" algn="l">
              <a:lnSpc>
                <a:spcPct val="104000"/>
              </a:lnSpc>
              <a:buNone/>
            </a:pPr>
            <a:r>
              <a:rPr lang="en-US" sz="2350" dirty="0">
                <a:solidFill>
                  <a:srgbClr val="FFFFFF"/>
                </a:solidFill>
                <a:latin typeface="Nunito SemiBold" pitchFamily="34" charset="0"/>
                <a:ea typeface="Nunito SemiBold" pitchFamily="34" charset="-122"/>
                <a:cs typeface="Nunito SemiBold" pitchFamily="34" charset="-120"/>
              </a:rPr>
              <a:t>Diseño Centrado en el Usuario (HCD)</a:t>
            </a:r>
            <a:endParaRPr lang="en-US" sz="2350" dirty="0"/>
          </a:p>
        </p:txBody>
      </p:sp>
      <p:sp>
        <p:nvSpPr>
          <p:cNvPr id="3" name="Text 1"/>
          <p:cNvSpPr/>
          <p:nvPr/>
        </p:nvSpPr>
        <p:spPr>
          <a:xfrm>
            <a:off x="523502" y="1033007"/>
            <a:ext cx="8096845" cy="818257"/>
          </a:xfrm>
          <a:prstGeom prst="rect">
            <a:avLst/>
          </a:prstGeom>
          <a:noFill/>
          <a:ln/>
        </p:spPr>
        <p:txBody>
          <a:bodyPr wrap="square" lIns="0" tIns="0" rIns="0" bIns="0" rtlCol="0" anchor="t">
            <a:noAutofit/>
          </a:bodyPr>
          <a:lstStyle/>
          <a:p>
            <a:pPr marL="0" indent="0" algn="l">
              <a:lnSpc>
                <a:spcPct val="132000"/>
              </a:lnSpc>
              <a:buNone/>
            </a:pPr>
            <a:r>
              <a:rPr lang="en-US" sz="1050" dirty="0">
                <a:solidFill>
                  <a:srgbClr val="FFFFFF"/>
                </a:solidFill>
                <a:latin typeface="Arial" panose="020B0604020202020204" pitchFamily="34" charset="0"/>
                <a:ea typeface="PT Sans" pitchFamily="34" charset="-122"/>
                <a:cs typeface="Arial" panose="020B0604020202020204" pitchFamily="34" charset="0"/>
              </a:rPr>
              <a:t>El Diseño Centrado en el Humano (Human-Centered Design, HCD) es una filosofía y metodología que coloca al usuario final en el núcleo de cada decisión de diseño. No se trata de hacer productos "bonitos", sino de crear soluciones que resuelvan problemas reales, que sean intuitivas y que generen valor tangible. </a:t>
            </a:r>
            <a:endParaRPr lang="en-US" sz="1050" dirty="0">
              <a:latin typeface="Arial" panose="020B0604020202020204" pitchFamily="34" charset="0"/>
              <a:cs typeface="Arial" panose="020B0604020202020204" pitchFamily="34" charset="0"/>
            </a:endParaRPr>
          </a:p>
        </p:txBody>
      </p:sp>
      <p:pic>
        <p:nvPicPr>
          <p:cNvPr id="4" name="Image 0" descr="preencoded.png"/>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523577" y="2060421"/>
            <a:ext cx="322138" cy="322138"/>
          </a:xfrm>
          <a:prstGeom prst="rect">
            <a:avLst/>
          </a:prstGeom>
        </p:spPr>
      </p:pic>
      <p:sp>
        <p:nvSpPr>
          <p:cNvPr id="5" name="Text 2"/>
          <p:cNvSpPr/>
          <p:nvPr/>
        </p:nvSpPr>
        <p:spPr>
          <a:xfrm>
            <a:off x="523577" y="2550032"/>
            <a:ext cx="2593256" cy="189458"/>
          </a:xfrm>
          <a:prstGeom prst="rect">
            <a:avLst/>
          </a:prstGeom>
          <a:noFill/>
          <a:ln/>
        </p:spPr>
        <p:txBody>
          <a:bodyPr wrap="none" lIns="0" tIns="0" rIns="0" bIns="0" rtlCol="0" anchor="t"/>
          <a:lstStyle/>
          <a:p>
            <a:pPr marL="0" indent="0" algn="l">
              <a:lnSpc>
                <a:spcPct val="104000"/>
              </a:lnSpc>
              <a:buNone/>
            </a:pPr>
            <a:r>
              <a:rPr lang="en-US" sz="1150" dirty="0">
                <a:solidFill>
                  <a:srgbClr val="FFFFFF"/>
                </a:solidFill>
                <a:latin typeface="Arial" panose="020B0604020202020204" pitchFamily="34" charset="0"/>
                <a:ea typeface="Nunito SemiBold" pitchFamily="34" charset="-122"/>
                <a:cs typeface="Arial" panose="020B0604020202020204" pitchFamily="34" charset="0"/>
              </a:rPr>
              <a:t>Foco Temprano en el Usuario</a:t>
            </a:r>
            <a:endParaRPr lang="en-US" sz="1150" dirty="0">
              <a:latin typeface="Arial" panose="020B0604020202020204" pitchFamily="34" charset="0"/>
              <a:cs typeface="Arial" panose="020B0604020202020204" pitchFamily="34" charset="0"/>
            </a:endParaRPr>
          </a:p>
        </p:txBody>
      </p:sp>
      <p:sp>
        <p:nvSpPr>
          <p:cNvPr id="6" name="Text 3"/>
          <p:cNvSpPr/>
          <p:nvPr/>
        </p:nvSpPr>
        <p:spPr>
          <a:xfrm>
            <a:off x="523503" y="2890160"/>
            <a:ext cx="2593256" cy="2587185"/>
          </a:xfrm>
          <a:prstGeom prst="rect">
            <a:avLst/>
          </a:prstGeom>
          <a:noFill/>
          <a:ln/>
        </p:spPr>
        <p:txBody>
          <a:bodyPr wrap="square" lIns="0" tIns="0" rIns="0" bIns="0" rtlCol="0" anchor="t">
            <a:normAutofit/>
          </a:bodyPr>
          <a:lstStyle/>
          <a:p>
            <a:pPr marL="0" indent="0" algn="l">
              <a:lnSpc>
                <a:spcPct val="132000"/>
              </a:lnSpc>
              <a:buNone/>
            </a:pPr>
            <a:r>
              <a:rPr lang="en-US" sz="1050" dirty="0">
                <a:solidFill>
                  <a:srgbClr val="FFFFFF"/>
                </a:solidFill>
                <a:latin typeface="Arial" panose="020B0604020202020204" pitchFamily="34" charset="0"/>
                <a:ea typeface="PT Sans" pitchFamily="34" charset="-122"/>
                <a:cs typeface="Arial" panose="020B0604020202020204" pitchFamily="34" charset="0"/>
              </a:rPr>
              <a:t>El estudio de las características cognitivas, conductuales y actitudinales de los usuarios debe iniciarse desde la fase de descubrimiento, no durante las pruebas finales. Entrevistas en profundidad, encuestas cuantitativas, mapas de empatía y análisis de tareas permiten construir perfiles de usuario (personas) que guían cada decisión de diseño. </a:t>
            </a:r>
            <a:endParaRPr lang="en-US" sz="1050" dirty="0">
              <a:latin typeface="Arial" panose="020B0604020202020204" pitchFamily="34" charset="0"/>
              <a:cs typeface="Arial" panose="020B0604020202020204" pitchFamily="34" charset="0"/>
            </a:endParaRPr>
          </a:p>
        </p:txBody>
      </p:sp>
      <p:pic>
        <p:nvPicPr>
          <p:cNvPr id="7" name="Image 1" descr="preencoded.png"/>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5258044" y="2118915"/>
            <a:ext cx="291731" cy="322138"/>
          </a:xfrm>
          <a:prstGeom prst="rect">
            <a:avLst/>
          </a:prstGeom>
        </p:spPr>
      </p:pic>
      <p:sp>
        <p:nvSpPr>
          <p:cNvPr id="8" name="Text 4"/>
          <p:cNvSpPr/>
          <p:nvPr/>
        </p:nvSpPr>
        <p:spPr>
          <a:xfrm>
            <a:off x="4488461" y="2482051"/>
            <a:ext cx="2593256" cy="189458"/>
          </a:xfrm>
          <a:prstGeom prst="rect">
            <a:avLst/>
          </a:prstGeom>
          <a:noFill/>
          <a:ln/>
        </p:spPr>
        <p:txBody>
          <a:bodyPr wrap="none" lIns="0" tIns="0" rIns="0" bIns="0" rtlCol="0" anchor="t"/>
          <a:lstStyle/>
          <a:p>
            <a:pPr marL="0" indent="0" algn="l">
              <a:lnSpc>
                <a:spcPct val="104000"/>
              </a:lnSpc>
              <a:buNone/>
            </a:pPr>
            <a:r>
              <a:rPr lang="en-US" sz="1150" dirty="0">
                <a:solidFill>
                  <a:srgbClr val="FFFFFF"/>
                </a:solidFill>
                <a:latin typeface="Arial" panose="020B0604020202020204" pitchFamily="34" charset="0"/>
                <a:ea typeface="Nunito SemiBold" pitchFamily="34" charset="-122"/>
                <a:cs typeface="Arial" panose="020B0604020202020204" pitchFamily="34" charset="0"/>
              </a:rPr>
              <a:t>Medición Empírica del Diseño</a:t>
            </a:r>
            <a:endParaRPr lang="en-US" sz="1150" dirty="0">
              <a:latin typeface="Arial" panose="020B0604020202020204" pitchFamily="34" charset="0"/>
              <a:cs typeface="Arial" panose="020B0604020202020204" pitchFamily="34" charset="0"/>
            </a:endParaRPr>
          </a:p>
        </p:txBody>
      </p:sp>
      <p:sp>
        <p:nvSpPr>
          <p:cNvPr id="9" name="Text 5"/>
          <p:cNvSpPr/>
          <p:nvPr/>
        </p:nvSpPr>
        <p:spPr>
          <a:xfrm>
            <a:off x="4488461" y="2890160"/>
            <a:ext cx="2593256" cy="2045643"/>
          </a:xfrm>
          <a:prstGeom prst="rect">
            <a:avLst/>
          </a:prstGeom>
          <a:noFill/>
          <a:ln/>
        </p:spPr>
        <p:txBody>
          <a:bodyPr wrap="square" lIns="0" tIns="0" rIns="0" bIns="0" rtlCol="0" anchor="t">
            <a:noAutofit/>
          </a:bodyPr>
          <a:lstStyle/>
          <a:p>
            <a:pPr marL="0" indent="0" algn="l">
              <a:lnSpc>
                <a:spcPct val="132000"/>
              </a:lnSpc>
              <a:buNone/>
            </a:pPr>
            <a:r>
              <a:rPr lang="en-US" sz="1050" dirty="0">
                <a:solidFill>
                  <a:srgbClr val="FFFFFF"/>
                </a:solidFill>
                <a:latin typeface="Arial" panose="020B0604020202020204" pitchFamily="34" charset="0"/>
                <a:ea typeface="PT Sans" pitchFamily="34" charset="-122"/>
                <a:cs typeface="Arial" panose="020B0604020202020204" pitchFamily="34" charset="0"/>
              </a:rPr>
              <a:t>El diseño basado en intuición es insuficiente. La validación empírica mediante pruebas de usabilidad, análisis de rendimiento y métricas de interacción (tiempo de tarea, tasa de error, clicks hasta el objetivo) proporciona datos objetivos que reemplazan las suposiciones. </a:t>
            </a:r>
            <a:endParaRPr lang="en-US" sz="105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23577" y="410245"/>
            <a:ext cx="8096845" cy="312762"/>
          </a:xfrm>
          <a:prstGeom prst="rect">
            <a:avLst/>
          </a:prstGeom>
          <a:noFill/>
          <a:ln/>
        </p:spPr>
        <p:txBody>
          <a:bodyPr wrap="none" lIns="0" tIns="0" rIns="0" bIns="0" rtlCol="0" anchor="t"/>
          <a:lstStyle/>
          <a:p>
            <a:pPr marL="0" indent="0" algn="l">
              <a:lnSpc>
                <a:spcPct val="104000"/>
              </a:lnSpc>
              <a:buNone/>
            </a:pPr>
            <a:r>
              <a:rPr lang="en-US" sz="1950" dirty="0">
                <a:solidFill>
                  <a:srgbClr val="FFFFFF"/>
                </a:solidFill>
                <a:latin typeface="Nunito SemiBold" pitchFamily="34" charset="0"/>
                <a:ea typeface="Nunito SemiBold" pitchFamily="34" charset="-122"/>
                <a:cs typeface="Nunito SemiBold" pitchFamily="34" charset="-120"/>
              </a:rPr>
              <a:t>Principios de Diseño Integrado</a:t>
            </a:r>
            <a:endParaRPr lang="en-US" sz="1950" dirty="0"/>
          </a:p>
        </p:txBody>
      </p:sp>
      <p:sp>
        <p:nvSpPr>
          <p:cNvPr id="3" name="Text 1"/>
          <p:cNvSpPr/>
          <p:nvPr/>
        </p:nvSpPr>
        <p:spPr>
          <a:xfrm>
            <a:off x="523577" y="895796"/>
            <a:ext cx="8096845" cy="462558"/>
          </a:xfrm>
          <a:prstGeom prst="rect">
            <a:avLst/>
          </a:prstGeom>
          <a:noFill/>
          <a:ln/>
        </p:spPr>
        <p:txBody>
          <a:bodyPr wrap="square" lIns="0" tIns="0" rIns="0" bIns="0" rtlCol="0" anchor="t">
            <a:noAutofit/>
          </a:bodyPr>
          <a:lstStyle/>
          <a:p>
            <a:pPr marL="0" indent="0" algn="l">
              <a:lnSpc>
                <a:spcPct val="121000"/>
              </a:lnSpc>
              <a:buNone/>
            </a:pPr>
            <a:r>
              <a:rPr lang="en-US" sz="1050" dirty="0">
                <a:solidFill>
                  <a:srgbClr val="FFFFFF"/>
                </a:solidFill>
                <a:latin typeface="Arial" panose="020B0604020202020204" pitchFamily="34" charset="0"/>
                <a:ea typeface="PT Sans" pitchFamily="34" charset="-122"/>
                <a:cs typeface="Arial" panose="020B0604020202020204" pitchFamily="34" charset="0"/>
              </a:rPr>
              <a:t>El diseño integrado va más allá de la interfaz visual: implica la coordinación coherente entre la interfaz de usuario, la documentación de soporte y los sistemas de ayuda, todos desarrollados bajo un enfoque unificado. </a:t>
            </a:r>
            <a:endParaRPr lang="en-US" sz="1050" dirty="0">
              <a:latin typeface="Arial" panose="020B0604020202020204" pitchFamily="34" charset="0"/>
              <a:cs typeface="Arial" panose="020B0604020202020204" pitchFamily="34" charset="0"/>
            </a:endParaRPr>
          </a:p>
        </p:txBody>
      </p:sp>
      <p:sp>
        <p:nvSpPr>
          <p:cNvPr id="8" name="Text 6"/>
          <p:cNvSpPr/>
          <p:nvPr/>
        </p:nvSpPr>
        <p:spPr>
          <a:xfrm>
            <a:off x="365846" y="1965332"/>
            <a:ext cx="3918719" cy="156418"/>
          </a:xfrm>
          <a:prstGeom prst="rect">
            <a:avLst/>
          </a:prstGeom>
          <a:noFill/>
          <a:ln/>
        </p:spPr>
        <p:txBody>
          <a:bodyPr wrap="none" lIns="0" tIns="0" rIns="0" bIns="0" rtlCol="0" anchor="t"/>
          <a:lstStyle/>
          <a:p>
            <a:pPr marL="0" indent="0" algn="l">
              <a:lnSpc>
                <a:spcPct val="104000"/>
              </a:lnSpc>
              <a:buNone/>
            </a:pPr>
            <a:r>
              <a:rPr lang="en-US" sz="1050" dirty="0">
                <a:solidFill>
                  <a:srgbClr val="FFFFFF"/>
                </a:solidFill>
                <a:latin typeface="Arial" panose="020B0604020202020204" pitchFamily="34" charset="0"/>
                <a:ea typeface="Nunito SemiBold" pitchFamily="34" charset="-122"/>
                <a:cs typeface="Arial" panose="020B0604020202020204" pitchFamily="34" charset="0"/>
              </a:rPr>
              <a:t>El Costo Real de la Funcionalidad</a:t>
            </a:r>
            <a:endParaRPr lang="en-US" sz="1050" dirty="0">
              <a:latin typeface="Arial" panose="020B0604020202020204" pitchFamily="34" charset="0"/>
              <a:cs typeface="Arial" panose="020B0604020202020204" pitchFamily="34" charset="0"/>
            </a:endParaRPr>
          </a:p>
        </p:txBody>
      </p:sp>
      <p:sp>
        <p:nvSpPr>
          <p:cNvPr id="9" name="Text 7"/>
          <p:cNvSpPr/>
          <p:nvPr/>
        </p:nvSpPr>
        <p:spPr>
          <a:xfrm>
            <a:off x="364610" y="2346154"/>
            <a:ext cx="3918719" cy="925116"/>
          </a:xfrm>
          <a:prstGeom prst="rect">
            <a:avLst/>
          </a:prstGeom>
          <a:noFill/>
          <a:ln/>
        </p:spPr>
        <p:txBody>
          <a:bodyPr wrap="square" lIns="0" tIns="0" rIns="0" bIns="0" rtlCol="0" anchor="t">
            <a:noAutofit/>
          </a:bodyPr>
          <a:lstStyle/>
          <a:p>
            <a:pPr marL="0" indent="0" algn="l">
              <a:lnSpc>
                <a:spcPct val="121000"/>
              </a:lnSpc>
              <a:buNone/>
            </a:pPr>
            <a:r>
              <a:rPr lang="en-US" sz="1050" dirty="0">
                <a:solidFill>
                  <a:srgbClr val="FFFFFF"/>
                </a:solidFill>
                <a:latin typeface="Arial" panose="020B0604020202020204" pitchFamily="34" charset="0"/>
                <a:ea typeface="PT Sans" pitchFamily="34" charset="-122"/>
                <a:cs typeface="Arial" panose="020B0604020202020204" pitchFamily="34" charset="0"/>
              </a:rPr>
              <a:t>Cada nueva característica añadida a un sistema tiene un costo oculto: aumenta la complejidad cognitiva, ralentiza el rendimiento y eleva la curva de aprendizaje. Antes de agregar una funcionalidad, es esencial preguntarse: ¿Esta característica resuelve un problema real para nuestra audiencia principal? ¿El valor que aporta justifica la complejidad que introduce? La disciplina de decir "no" es tan importante como la de innovar.</a:t>
            </a:r>
            <a:endParaRPr lang="en-US" sz="1050" dirty="0">
              <a:latin typeface="Arial" panose="020B0604020202020204" pitchFamily="34" charset="0"/>
              <a:cs typeface="Arial" panose="020B0604020202020204" pitchFamily="34" charset="0"/>
            </a:endParaRPr>
          </a:p>
        </p:txBody>
      </p:sp>
      <p:pic>
        <p:nvPicPr>
          <p:cNvPr id="12" name="Imagen 11"/>
          <p:cNvPicPr>
            <a:picLocks noChangeAspect="1"/>
          </p:cNvPicPr>
          <p:nvPr/>
        </p:nvPicPr>
        <p:blipFill>
          <a:blip r:embed="rId3"/>
          <a:stretch>
            <a:fillRect/>
          </a:stretch>
        </p:blipFill>
        <p:spPr>
          <a:xfrm>
            <a:off x="4943192" y="1399040"/>
            <a:ext cx="4200808" cy="374446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17430" y="532900"/>
            <a:ext cx="8096845" cy="342900"/>
          </a:xfrm>
          <a:prstGeom prst="rect">
            <a:avLst/>
          </a:prstGeom>
          <a:noFill/>
          <a:ln/>
        </p:spPr>
        <p:txBody>
          <a:bodyPr wrap="none" lIns="0" tIns="0" rIns="0" bIns="0" rtlCol="0" anchor="t"/>
          <a:lstStyle/>
          <a:p>
            <a:pPr marL="0" indent="0" algn="l">
              <a:lnSpc>
                <a:spcPct val="104000"/>
              </a:lnSpc>
              <a:buNone/>
            </a:pPr>
            <a:r>
              <a:rPr lang="en-US" sz="2150" dirty="0">
                <a:solidFill>
                  <a:srgbClr val="FFFFFF"/>
                </a:solidFill>
                <a:latin typeface="Nunito SemiBold" pitchFamily="34" charset="0"/>
                <a:ea typeface="Nunito SemiBold" pitchFamily="34" charset="-122"/>
                <a:cs typeface="Nunito SemiBold" pitchFamily="34" charset="-120"/>
              </a:rPr>
              <a:t>Manual de Usuario: Más que una Guía</a:t>
            </a:r>
            <a:endParaRPr lang="en-US" sz="2150" dirty="0"/>
          </a:p>
        </p:txBody>
      </p:sp>
      <p:sp>
        <p:nvSpPr>
          <p:cNvPr id="3" name="Text 1"/>
          <p:cNvSpPr/>
          <p:nvPr/>
        </p:nvSpPr>
        <p:spPr>
          <a:xfrm>
            <a:off x="348703" y="1156723"/>
            <a:ext cx="8096845" cy="529084"/>
          </a:xfrm>
          <a:prstGeom prst="rect">
            <a:avLst/>
          </a:prstGeom>
          <a:noFill/>
          <a:ln/>
        </p:spPr>
        <p:txBody>
          <a:bodyPr wrap="square" lIns="0" tIns="0" rIns="0" bIns="0" rtlCol="0" anchor="t">
            <a:noAutofit/>
          </a:bodyPr>
          <a:lstStyle/>
          <a:p>
            <a:pPr marL="0" indent="0" algn="l">
              <a:lnSpc>
                <a:spcPct val="126000"/>
              </a:lnSpc>
              <a:buNone/>
            </a:pPr>
            <a:r>
              <a:rPr lang="en-US" sz="1050" dirty="0">
                <a:solidFill>
                  <a:srgbClr val="FFFFFF"/>
                </a:solidFill>
                <a:latin typeface="Arial" panose="020B0604020202020204" pitchFamily="34" charset="0"/>
                <a:ea typeface="PT Sans" pitchFamily="34" charset="-122"/>
                <a:cs typeface="Arial" panose="020B0604020202020204" pitchFamily="34" charset="0"/>
              </a:rPr>
              <a:t>Un manual de usuario bien diseñado no es un documento que se escribe al final del proyecto: es una herramienta estratégica que actúa como brújula del proceso de desarrollo, como soporte fundamental para el usuario y como indicador de la calidad del software. </a:t>
            </a:r>
            <a:endParaRPr lang="en-US" sz="1050" dirty="0">
              <a:latin typeface="Arial" panose="020B0604020202020204" pitchFamily="34" charset="0"/>
              <a:cs typeface="Arial" panose="020B0604020202020204" pitchFamily="34" charset="0"/>
            </a:endParaRPr>
          </a:p>
        </p:txBody>
      </p:sp>
      <p:pic>
        <p:nvPicPr>
          <p:cNvPr id="4" name="Image 0" descr="preencoded.png"/>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1570649" y="1855658"/>
            <a:ext cx="2629719" cy="3206034"/>
          </a:xfrm>
          <a:prstGeom prst="rect">
            <a:avLst/>
          </a:prstGeom>
        </p:spPr>
      </p:pic>
      <p:pic>
        <p:nvPicPr>
          <p:cNvPr id="5" name="Image 1" descr="preencoded.png"/>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2732421" y="1997810"/>
            <a:ext cx="174873" cy="174873"/>
          </a:xfrm>
          <a:prstGeom prst="rect">
            <a:avLst/>
          </a:prstGeom>
        </p:spPr>
      </p:pic>
      <p:sp>
        <p:nvSpPr>
          <p:cNvPr id="6" name="Text 2"/>
          <p:cNvSpPr/>
          <p:nvPr/>
        </p:nvSpPr>
        <p:spPr>
          <a:xfrm>
            <a:off x="1861288" y="2754223"/>
            <a:ext cx="2368079" cy="171376"/>
          </a:xfrm>
          <a:prstGeom prst="rect">
            <a:avLst/>
          </a:prstGeom>
          <a:noFill/>
          <a:ln/>
        </p:spPr>
        <p:txBody>
          <a:bodyPr wrap="none" lIns="0" tIns="0" rIns="0" bIns="0" rtlCol="0" anchor="t"/>
          <a:lstStyle/>
          <a:p>
            <a:pPr marL="0" indent="0" algn="l">
              <a:lnSpc>
                <a:spcPct val="104000"/>
              </a:lnSpc>
              <a:buNone/>
            </a:pPr>
            <a:r>
              <a:rPr lang="en-US" sz="1050" dirty="0">
                <a:solidFill>
                  <a:srgbClr val="FFFFFF"/>
                </a:solidFill>
                <a:latin typeface="Arial" panose="020B0604020202020204" pitchFamily="34" charset="0"/>
                <a:ea typeface="Nunito SemiBold" pitchFamily="34" charset="-122"/>
                <a:cs typeface="Arial" panose="020B0604020202020204" pitchFamily="34" charset="0"/>
              </a:rPr>
              <a:t>Función Estratégica del Manual</a:t>
            </a:r>
            <a:endParaRPr lang="en-US" sz="1050" dirty="0">
              <a:latin typeface="Arial" panose="020B0604020202020204" pitchFamily="34" charset="0"/>
              <a:cs typeface="Arial" panose="020B0604020202020204" pitchFamily="34" charset="0"/>
            </a:endParaRPr>
          </a:p>
        </p:txBody>
      </p:sp>
      <p:sp>
        <p:nvSpPr>
          <p:cNvPr id="7" name="Text 3"/>
          <p:cNvSpPr/>
          <p:nvPr/>
        </p:nvSpPr>
        <p:spPr>
          <a:xfrm>
            <a:off x="1701469" y="3479889"/>
            <a:ext cx="2368079" cy="1085217"/>
          </a:xfrm>
          <a:prstGeom prst="rect">
            <a:avLst/>
          </a:prstGeom>
          <a:noFill/>
          <a:ln/>
        </p:spPr>
        <p:txBody>
          <a:bodyPr wrap="square" lIns="0" tIns="0" rIns="0" bIns="0" rtlCol="0" anchor="t">
            <a:noAutofit/>
          </a:bodyPr>
          <a:lstStyle/>
          <a:p>
            <a:pPr marL="0" indent="0" algn="l">
              <a:lnSpc>
                <a:spcPct val="126000"/>
              </a:lnSpc>
              <a:buNone/>
            </a:pPr>
            <a:r>
              <a:rPr lang="en-US" sz="1050" dirty="0">
                <a:solidFill>
                  <a:srgbClr val="FFFFFF"/>
                </a:solidFill>
                <a:latin typeface="Arial" panose="020B0604020202020204" pitchFamily="34" charset="0"/>
                <a:ea typeface="PT Sans" pitchFamily="34" charset="-122"/>
                <a:cs typeface="Arial" panose="020B0604020202020204" pitchFamily="34" charset="0"/>
              </a:rPr>
              <a:t>El manual de usuario cumple múltiples funciones dentro del ciclo de vida del producto. Durante el desarrollo, sirve como referencia para validar que las funcionalidades implementadas corresponden a lo documentado. </a:t>
            </a:r>
            <a:endParaRPr lang="en-US" sz="1050" dirty="0">
              <a:latin typeface="Arial" panose="020B0604020202020204" pitchFamily="34" charset="0"/>
              <a:cs typeface="Arial" panose="020B0604020202020204" pitchFamily="34" charset="0"/>
            </a:endParaRPr>
          </a:p>
        </p:txBody>
      </p:sp>
      <p:pic>
        <p:nvPicPr>
          <p:cNvPr id="8" name="Image 2" descr="preencoded.png"/>
          <p:cNvPicPr>
            <a:picLocks noChangeAspect="1"/>
          </p:cNvPicPr>
          <p:nvPr/>
        </p:nvPicPr>
        <p:blipFill>
          <a:blip r:embed="rId7">
            <a:extLst>
              <a:ext uri="{96DAC541-7B7A-43D3-8B79-37D633B846F1}">
                <asvg:svgBlip xmlns="" xmlns:asvg="http://schemas.microsoft.com/office/drawing/2016/SVG/main" r:embed="rId8"/>
              </a:ext>
            </a:extLst>
          </a:blip>
          <a:stretch>
            <a:fillRect/>
          </a:stretch>
        </p:blipFill>
        <p:spPr>
          <a:xfrm>
            <a:off x="5107034" y="1856343"/>
            <a:ext cx="2629719" cy="3205349"/>
          </a:xfrm>
          <a:prstGeom prst="rect">
            <a:avLst/>
          </a:prstGeom>
        </p:spPr>
      </p:pic>
      <p:pic>
        <p:nvPicPr>
          <p:cNvPr id="9" name="Image 3" descr="preencoded.png"/>
          <p:cNvPicPr>
            <a:picLocks noChangeAspect="1"/>
          </p:cNvPicPr>
          <p:nvPr/>
        </p:nvPicPr>
        <p:blipFill>
          <a:blip r:embed="rId9">
            <a:extLst>
              <a:ext uri="{96DAC541-7B7A-43D3-8B79-37D633B846F1}">
                <asvg:svgBlip xmlns="" xmlns:asvg="http://schemas.microsoft.com/office/drawing/2016/SVG/main" r:embed="rId10"/>
              </a:ext>
            </a:extLst>
          </a:blip>
          <a:stretch>
            <a:fillRect/>
          </a:stretch>
        </p:blipFill>
        <p:spPr>
          <a:xfrm>
            <a:off x="6273988" y="1966730"/>
            <a:ext cx="186971" cy="186971"/>
          </a:xfrm>
          <a:prstGeom prst="rect">
            <a:avLst/>
          </a:prstGeom>
        </p:spPr>
      </p:pic>
      <p:sp>
        <p:nvSpPr>
          <p:cNvPr id="10" name="Text 4"/>
          <p:cNvSpPr/>
          <p:nvPr/>
        </p:nvSpPr>
        <p:spPr>
          <a:xfrm>
            <a:off x="5237853" y="2668536"/>
            <a:ext cx="2368079" cy="342751"/>
          </a:xfrm>
          <a:prstGeom prst="rect">
            <a:avLst/>
          </a:prstGeom>
          <a:noFill/>
          <a:ln/>
        </p:spPr>
        <p:txBody>
          <a:bodyPr wrap="square" lIns="0" tIns="0" rIns="0" bIns="0" rtlCol="0" anchor="t">
            <a:normAutofit/>
          </a:bodyPr>
          <a:lstStyle/>
          <a:p>
            <a:pPr marL="0" indent="0" algn="l">
              <a:lnSpc>
                <a:spcPct val="104000"/>
              </a:lnSpc>
              <a:buNone/>
            </a:pPr>
            <a:r>
              <a:rPr lang="en-US" sz="1050" dirty="0">
                <a:solidFill>
                  <a:srgbClr val="FFFFFF"/>
                </a:solidFill>
                <a:latin typeface="Arial" panose="020B0604020202020204" pitchFamily="34" charset="0"/>
                <a:ea typeface="Nunito SemiBold" pitchFamily="34" charset="-122"/>
                <a:cs typeface="Arial" panose="020B0604020202020204" pitchFamily="34" charset="0"/>
              </a:rPr>
              <a:t>Calidad del Software Reflejada en el Manual</a:t>
            </a:r>
            <a:endParaRPr lang="en-US" sz="1050" dirty="0">
              <a:latin typeface="Arial" panose="020B0604020202020204" pitchFamily="34" charset="0"/>
              <a:cs typeface="Arial" panose="020B0604020202020204" pitchFamily="34" charset="0"/>
            </a:endParaRPr>
          </a:p>
        </p:txBody>
      </p:sp>
      <p:sp>
        <p:nvSpPr>
          <p:cNvPr id="11" name="Text 5"/>
          <p:cNvSpPr/>
          <p:nvPr/>
        </p:nvSpPr>
        <p:spPr>
          <a:xfrm>
            <a:off x="5366672" y="3393321"/>
            <a:ext cx="2368079" cy="1939975"/>
          </a:xfrm>
          <a:prstGeom prst="rect">
            <a:avLst/>
          </a:prstGeom>
          <a:noFill/>
          <a:ln/>
        </p:spPr>
        <p:txBody>
          <a:bodyPr wrap="square" lIns="0" tIns="0" rIns="0" bIns="0" rtlCol="0" anchor="t">
            <a:noAutofit/>
          </a:bodyPr>
          <a:lstStyle/>
          <a:p>
            <a:pPr marL="0" indent="0" algn="l">
              <a:lnSpc>
                <a:spcPct val="126000"/>
              </a:lnSpc>
              <a:buNone/>
            </a:pPr>
            <a:r>
              <a:rPr lang="en-US" sz="1050" dirty="0">
                <a:solidFill>
                  <a:srgbClr val="FFFFFF"/>
                </a:solidFill>
                <a:latin typeface="Arial" panose="020B0604020202020204" pitchFamily="34" charset="0"/>
                <a:ea typeface="PT Sans" pitchFamily="34" charset="-122"/>
                <a:cs typeface="Arial" panose="020B0604020202020204" pitchFamily="34" charset="0"/>
              </a:rPr>
              <a:t>Un gran producto debe ser confiable, predecible y manejar errores de forma elegante. Estas cualidades deben reflejarse en el manual: un software que genera errores crípticos requiere un manual que explique cómo interpretarlos y resolverlos. </a:t>
            </a:r>
            <a:endParaRPr lang="en-US" sz="105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6604" y="710876"/>
            <a:ext cx="8096845" cy="252636"/>
          </a:xfrm>
          <a:prstGeom prst="rect">
            <a:avLst/>
          </a:prstGeom>
          <a:noFill/>
          <a:ln/>
        </p:spPr>
        <p:txBody>
          <a:bodyPr wrap="none" lIns="0" tIns="0" rIns="0" bIns="0" rtlCol="0" anchor="t"/>
          <a:lstStyle/>
          <a:p>
            <a:pPr marL="0" indent="0" algn="l">
              <a:lnSpc>
                <a:spcPct val="104000"/>
              </a:lnSpc>
              <a:buNone/>
            </a:pPr>
            <a:r>
              <a:rPr lang="en-US" sz="1550" dirty="0">
                <a:solidFill>
                  <a:srgbClr val="FFFFFF"/>
                </a:solidFill>
                <a:latin typeface="Nunito SemiBold" pitchFamily="34" charset="0"/>
                <a:ea typeface="Nunito SemiBold" pitchFamily="34" charset="-122"/>
                <a:cs typeface="Nunito SemiBold" pitchFamily="34" charset="-120"/>
              </a:rPr>
              <a:t>Optimización y Rendimiento</a:t>
            </a:r>
            <a:endParaRPr lang="en-US" sz="1550" dirty="0"/>
          </a:p>
        </p:txBody>
      </p:sp>
      <p:sp>
        <p:nvSpPr>
          <p:cNvPr id="3" name="Text 1"/>
          <p:cNvSpPr/>
          <p:nvPr/>
        </p:nvSpPr>
        <p:spPr>
          <a:xfrm>
            <a:off x="394766" y="1672893"/>
            <a:ext cx="8096845" cy="227558"/>
          </a:xfrm>
          <a:prstGeom prst="rect">
            <a:avLst/>
          </a:prstGeom>
          <a:noFill/>
          <a:ln/>
        </p:spPr>
        <p:txBody>
          <a:bodyPr wrap="square" lIns="0" tIns="0" rIns="0" bIns="0" rtlCol="0" anchor="t">
            <a:noAutofit/>
          </a:bodyPr>
          <a:lstStyle/>
          <a:p>
            <a:pPr marL="0" indent="0">
              <a:lnSpc>
                <a:spcPct val="110000"/>
              </a:lnSpc>
              <a:buNone/>
            </a:pPr>
            <a:r>
              <a:rPr lang="en-US" sz="1050" dirty="0">
                <a:solidFill>
                  <a:srgbClr val="FFFFFF"/>
                </a:solidFill>
                <a:latin typeface="Arial" panose="020B0604020202020204" pitchFamily="34" charset="0"/>
                <a:ea typeface="PT Sans" pitchFamily="34" charset="-122"/>
                <a:cs typeface="Arial" panose="020B0604020202020204" pitchFamily="34" charset="0"/>
              </a:rPr>
              <a:t>El rendimiento de un sistema tecnológico no se mide únicamente por la velocidad de su algoritmo subyacente: la percepción del usuario es igualmente crítica. Un sistema técnicamente rápido que se siente lento frustrará al usuario. La optimización efectiva combina métricas técnicas con métricas de experiencia para garantizar una respuesta consistente, confiable y satisfactoria.</a:t>
            </a:r>
            <a:endParaRPr lang="en-US" sz="1050" dirty="0">
              <a:latin typeface="Arial" panose="020B0604020202020204" pitchFamily="34" charset="0"/>
              <a:cs typeface="Arial" panose="020B0604020202020204" pitchFamily="34" charset="0"/>
            </a:endParaRPr>
          </a:p>
        </p:txBody>
      </p:sp>
      <p:sp>
        <p:nvSpPr>
          <p:cNvPr id="4" name="Shape 2"/>
          <p:cNvSpPr/>
          <p:nvPr/>
        </p:nvSpPr>
        <p:spPr>
          <a:xfrm>
            <a:off x="2385491" y="2736150"/>
            <a:ext cx="4067324" cy="1500966"/>
          </a:xfrm>
          <a:prstGeom prst="roundRect">
            <a:avLst>
              <a:gd name="adj" fmla="val 10909"/>
            </a:avLst>
          </a:prstGeom>
          <a:solidFill>
            <a:srgbClr val="F2B42D">
              <a:alpha val="75000"/>
            </a:srgbClr>
          </a:solidFill>
          <a:ln/>
        </p:spPr>
      </p:sp>
      <p:sp>
        <p:nvSpPr>
          <p:cNvPr id="5" name="Text 3"/>
          <p:cNvSpPr/>
          <p:nvPr/>
        </p:nvSpPr>
        <p:spPr>
          <a:xfrm>
            <a:off x="2557239" y="2891864"/>
            <a:ext cx="3895576" cy="126281"/>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Arial" panose="020B0604020202020204" pitchFamily="34" charset="0"/>
                <a:ea typeface="Nunito SemiBold" pitchFamily="34" charset="-122"/>
                <a:cs typeface="Arial" panose="020B0604020202020204" pitchFamily="34" charset="0"/>
              </a:rPr>
              <a:t>Métricas Clave de Rendimiento</a:t>
            </a:r>
            <a:endParaRPr lang="en-US" sz="1050" dirty="0">
              <a:latin typeface="Arial" panose="020B0604020202020204" pitchFamily="34" charset="0"/>
              <a:cs typeface="Arial" panose="020B0604020202020204" pitchFamily="34" charset="0"/>
            </a:endParaRPr>
          </a:p>
        </p:txBody>
      </p:sp>
      <p:sp>
        <p:nvSpPr>
          <p:cNvPr id="6" name="Text 4"/>
          <p:cNvSpPr/>
          <p:nvPr/>
        </p:nvSpPr>
        <p:spPr>
          <a:xfrm>
            <a:off x="2471365" y="3173859"/>
            <a:ext cx="3895576" cy="1075838"/>
          </a:xfrm>
          <a:prstGeom prst="rect">
            <a:avLst/>
          </a:prstGeom>
          <a:noFill/>
          <a:ln/>
        </p:spPr>
        <p:txBody>
          <a:bodyPr wrap="square" lIns="0" tIns="0" rIns="0" bIns="0" rtlCol="0" anchor="t">
            <a:noAutofit/>
          </a:bodyPr>
          <a:lstStyle/>
          <a:p>
            <a:pPr marL="0" indent="0" algn="l">
              <a:lnSpc>
                <a:spcPct val="110000"/>
              </a:lnSpc>
              <a:buNone/>
            </a:pPr>
            <a:r>
              <a:rPr lang="en-US" sz="1050" dirty="0">
                <a:solidFill>
                  <a:srgbClr val="000000"/>
                </a:solidFill>
                <a:latin typeface="Arial" panose="020B0604020202020204" pitchFamily="34" charset="0"/>
                <a:ea typeface="PT Sans" pitchFamily="34" charset="-122"/>
                <a:cs typeface="Arial" panose="020B0604020202020204" pitchFamily="34" charset="0"/>
              </a:rPr>
              <a:t>El éxito de un sistema depende de la </a:t>
            </a:r>
            <a:r>
              <a:rPr lang="en-US" sz="1050" b="1" dirty="0">
                <a:solidFill>
                  <a:srgbClr val="000000"/>
                </a:solidFill>
                <a:latin typeface="Arial" panose="020B0604020202020204" pitchFamily="34" charset="0"/>
                <a:ea typeface="PT Sans Bold" pitchFamily="34" charset="-122"/>
                <a:cs typeface="Arial" panose="020B0604020202020204" pitchFamily="34" charset="0"/>
              </a:rPr>
              <a:t>velocidad percibida</a:t>
            </a:r>
            <a:r>
              <a:rPr lang="en-US" sz="1050" dirty="0">
                <a:solidFill>
                  <a:srgbClr val="000000"/>
                </a:solidFill>
                <a:latin typeface="Arial" panose="020B0604020202020204" pitchFamily="34" charset="0"/>
                <a:ea typeface="PT Sans" pitchFamily="34" charset="-122"/>
                <a:cs typeface="Arial" panose="020B0604020202020204" pitchFamily="34" charset="0"/>
              </a:rPr>
              <a:t>, no solo del throughput real. Las métricas más relevantes incluyen:</a:t>
            </a:r>
            <a:endParaRPr lang="en-US" sz="1050" dirty="0">
              <a:latin typeface="Arial" panose="020B0604020202020204" pitchFamily="34" charset="0"/>
              <a:cs typeface="Arial" panose="020B0604020202020204" pitchFamily="34" charset="0"/>
            </a:endParaRPr>
          </a:p>
        </p:txBody>
      </p:sp>
      <p:sp>
        <p:nvSpPr>
          <p:cNvPr id="8" name="Text 6"/>
          <p:cNvSpPr/>
          <p:nvPr/>
        </p:nvSpPr>
        <p:spPr>
          <a:xfrm>
            <a:off x="2471365" y="3584430"/>
            <a:ext cx="3895576" cy="227558"/>
          </a:xfrm>
          <a:prstGeom prst="rect">
            <a:avLst/>
          </a:prstGeom>
          <a:noFill/>
          <a:ln/>
        </p:spPr>
        <p:txBody>
          <a:bodyPr wrap="square" lIns="0" tIns="0" rIns="0" bIns="0" rtlCol="0" anchor="t">
            <a:noAutofit/>
          </a:bodyPr>
          <a:lstStyle/>
          <a:p>
            <a:pPr marL="0" indent="0" algn="l">
              <a:lnSpc>
                <a:spcPct val="110000"/>
              </a:lnSpc>
              <a:buNone/>
            </a:pPr>
            <a:r>
              <a:rPr lang="en-US" sz="1050" dirty="0">
                <a:solidFill>
                  <a:srgbClr val="000000"/>
                </a:solidFill>
                <a:latin typeface="Arial" panose="020B0604020202020204" pitchFamily="34" charset="0"/>
                <a:ea typeface="PT Sans" pitchFamily="34" charset="-122"/>
                <a:cs typeface="Arial" panose="020B0604020202020204" pitchFamily="34" charset="0"/>
              </a:rPr>
              <a:t>Las investigaciones de Google demuestran que cada segundo adicional de carga reduce la satisfacción del usuario y aumenta la tasa de abandono significativamente.</a:t>
            </a:r>
            <a:endParaRPr lang="en-US" sz="105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2701</TotalTime>
  <Words>795</Words>
  <Application>Microsoft Office PowerPoint</Application>
  <PresentationFormat>Presentación en pantalla (16:9)</PresentationFormat>
  <Paragraphs>40</Paragraphs>
  <Slides>7</Slides>
  <Notes>7</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7</vt:i4>
      </vt:variant>
    </vt:vector>
  </HeadingPairs>
  <TitlesOfParts>
    <vt:vector size="13" baseType="lpstr">
      <vt:lpstr>Calibri</vt:lpstr>
      <vt:lpstr>PT Sans Bold</vt:lpstr>
      <vt:lpstr>Nunito SemiBold</vt:lpstr>
      <vt:lpstr>PT Sans</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
  <cp:lastModifiedBy>LPereira</cp:lastModifiedBy>
  <cp:revision>26</cp:revision>
  <dcterms:created xsi:type="dcterms:W3CDTF">2026-07-27T00:06:27Z</dcterms:created>
  <dcterms:modified xsi:type="dcterms:W3CDTF">2026-08-10T17:19:04Z</dcterms:modified>
</cp:coreProperties>
</file>